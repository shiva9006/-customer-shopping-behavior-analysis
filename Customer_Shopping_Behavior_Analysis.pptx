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04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64193"/>
            <a:ext cx="42862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Shopping
Behavior Analysis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3087244"/>
            <a:ext cx="42862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6B6D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End-to-End Data Analytics Project using Python, SQL &amp; Power BI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42950" y="3783760"/>
            <a:ext cx="41148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42950" y="3978427"/>
            <a:ext cx="4114800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</a:rPr>
              <a:t>Shivam Singh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38" y="1928813"/>
            <a:ext cx="128587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76691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Overview &amp; Business Problem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65802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858659"/>
            <a:ext cx="181272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71500" y="2387296"/>
            <a:ext cx="38576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goal of this project is to perform a comprehensive analysis of 3,900 transactional records to uncover hidden spending patterns and customer preferences.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71500" y="3444571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leveraging Python, SQL, and Power BI, we aim to bridge the gap between raw transactional data and actionable business intelligence.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71500" y="4273246"/>
            <a:ext cx="3857625" cy="642938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4273246"/>
            <a:ext cx="28575" cy="64293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4458984"/>
            <a:ext cx="362902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"Transforming 3,900 data points into a strategic roadmap for business growth and customer retention."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86580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9200" y="1858659"/>
            <a:ext cx="188237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714875" y="2387296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faces challenges in identifying the key drivers of revenue and understanding how subscriptions and discounts impact long-term customer loyalty.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257048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14900" y="3242760"/>
            <a:ext cx="27610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view of customer segments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542798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14900" y="3528510"/>
            <a:ext cx="23824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Unclear ROI on discount strategies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828548"/>
            <a:ext cx="142875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14900" y="3814260"/>
            <a:ext cx="273784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personalized marketing efforts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558462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 Stack &amp; Dataset Overview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977" y="1730071"/>
            <a:ext cx="375047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230134"/>
            <a:ext cx="2286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14363" y="2496238"/>
            <a:ext cx="2200275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Imputation, and Feature Engineering using Pandas &amp; NumPy.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477" y="1730071"/>
            <a:ext cx="375047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9000" y="2230134"/>
            <a:ext cx="2286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(MySQL)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471863" y="2496238"/>
            <a:ext cx="2200275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Business Queries, Data Segmentation, and Revenue Analysis.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188" y="1730071"/>
            <a:ext cx="428625" cy="428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6500" y="2230134"/>
            <a:ext cx="2286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29363" y="2496238"/>
            <a:ext cx="2200275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Visualization, KPI Tracking, and Dashboard Development.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198112"/>
            <a:ext cx="200025" cy="2000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7250" y="3176681"/>
            <a:ext cx="188416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Summary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571500" y="3519581"/>
            <a:ext cx="1935956" cy="6429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9"/>
          <p:cNvSpPr/>
          <p:nvPr/>
        </p:nvSpPr>
        <p:spPr>
          <a:xfrm>
            <a:off x="685800" y="3591018"/>
            <a:ext cx="18216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85800" y="3867838"/>
            <a:ext cx="1821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ROWS</a:t>
            </a:r>
            <a:endParaRPr lang="en-US" sz="850" dirty="0"/>
          </a:p>
        </p:txBody>
      </p:sp>
      <p:sp>
        <p:nvSpPr>
          <p:cNvPr id="18" name="Shape 11"/>
          <p:cNvSpPr/>
          <p:nvPr/>
        </p:nvSpPr>
        <p:spPr>
          <a:xfrm>
            <a:off x="2593181" y="3519581"/>
            <a:ext cx="1935956" cy="6429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2707481" y="3591018"/>
            <a:ext cx="18216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2707481" y="3867838"/>
            <a:ext cx="1821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COLUMNS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4614863" y="3519581"/>
            <a:ext cx="1935956" cy="6429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4729163" y="3591018"/>
            <a:ext cx="18216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729163" y="3867838"/>
            <a:ext cx="1821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6636544" y="3519581"/>
            <a:ext cx="1935956" cy="6429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6750844" y="3591018"/>
            <a:ext cx="18216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750844" y="3867838"/>
            <a:ext cx="1821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INTEGRITY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571500" y="4162518"/>
            <a:ext cx="8001000" cy="39647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Features: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Age, Gender, Location, Subscription Status, Item Purchased, Category, Purchase Amount, Frequency, and Review Ratings.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41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32782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Cleaning &amp; Feature Engineering (Python)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87196"/>
            <a:ext cx="3714750" cy="213062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87196"/>
            <a:ext cx="3714750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48836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1556" y="1844371"/>
            <a:ext cx="210919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85800" y="2396226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37 missing entries in the </a:t>
            </a: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85800" y="2824851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category-median imputation to preserve distribution.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85800" y="3310626"/>
            <a:ext cx="2120605" cy="250031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3310626"/>
            <a:ext cx="2120605" cy="25003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df.fillna(category_median)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429125" y="1587196"/>
            <a:ext cx="3714750" cy="210204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429125" y="1587196"/>
            <a:ext cx="3714750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5" y="1848836"/>
            <a:ext cx="175022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4172" y="1844371"/>
            <a:ext cx="142339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Standardization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43425" y="2396226"/>
            <a:ext cx="34861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 headers to </a:t>
            </a:r>
            <a:r>
              <a:rPr lang="en-US" sz="95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snake_case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consistency.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543425" y="2631970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compatibility with MySQL naming and cleaner code.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71500" y="3832120"/>
            <a:ext cx="3714750" cy="182344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3832120"/>
            <a:ext cx="3714750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93759"/>
            <a:ext cx="200025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1550" y="4089295"/>
            <a:ext cx="18430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85800" y="4659009"/>
            <a:ext cx="3414713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Grouping: Binned ages into segments (Young Adult, Adult, Middle-aged, Senior).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85800" y="5089420"/>
            <a:ext cx="8018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Engagement: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487686" y="5089420"/>
            <a:ext cx="542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Derived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2030611" y="5078704"/>
            <a:ext cx="17745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purchase_frequency_days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805135" y="5089420"/>
            <a:ext cx="375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429125" y="3832120"/>
            <a:ext cx="3714750" cy="182344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4429125" y="3832120"/>
            <a:ext cx="3714750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5" y="4093759"/>
            <a:ext cx="200025" cy="2000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829175" y="4089295"/>
            <a:ext cx="189488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543425" y="4641149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secure connection to </a:t>
            </a: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SQLAlchemy.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543425" y="5069774"/>
            <a:ext cx="3486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load of cleaned DataFrame into structured tables.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3996928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Business Analysis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01484"/>
            <a:ext cx="3936206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48836"/>
            <a:ext cx="225028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7997" y="1844371"/>
            <a:ext cx="157698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Analysis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374795"/>
            <a:ext cx="62508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9758" y="2339076"/>
            <a:ext cx="337363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study of revenue across gender segments.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728410"/>
            <a:ext cx="62508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9758" y="2692691"/>
            <a:ext cx="27289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contribution by age group brackets.</a:t>
            </a:r>
            <a:endParaRPr lang="en-US" sz="9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2926649"/>
            <a:ext cx="62508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9758" y="2890931"/>
            <a:ext cx="29771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 of high-value geographic locations.</a:t>
            </a:r>
            <a:endParaRPr lang="en-US" sz="950" dirty="0"/>
          </a:p>
        </p:txBody>
      </p:sp>
      <p:sp>
        <p:nvSpPr>
          <p:cNvPr id="13" name="Shape 6"/>
          <p:cNvSpPr/>
          <p:nvPr/>
        </p:nvSpPr>
        <p:spPr>
          <a:xfrm>
            <a:off x="4636294" y="1601484"/>
            <a:ext cx="3936206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0606" y="1848836"/>
            <a:ext cx="250031" cy="2000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07794" y="1844371"/>
            <a:ext cx="220563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Segmentation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606" y="2374795"/>
            <a:ext cx="62508" cy="1000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984552" y="2339076"/>
            <a:ext cx="336292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into New, Returning, and Loyal segments.</a:t>
            </a:r>
            <a:endParaRPr lang="en-US" sz="9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606" y="2573034"/>
            <a:ext cx="62508" cy="1000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984552" y="2537315"/>
            <a:ext cx="261818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repeat buyer behavior patterns.</a:t>
            </a:r>
            <a:endParaRPr lang="en-US" sz="9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606" y="2771273"/>
            <a:ext cx="62508" cy="10001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984552" y="2735554"/>
            <a:ext cx="310217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of purchase vs. customer lifetime value.</a:t>
            </a:r>
            <a:endParaRPr lang="en-US" sz="950" dirty="0"/>
          </a:p>
        </p:txBody>
      </p:sp>
      <p:sp>
        <p:nvSpPr>
          <p:cNvPr id="22" name="Shape 11"/>
          <p:cNvSpPr/>
          <p:nvPr/>
        </p:nvSpPr>
        <p:spPr>
          <a:xfrm>
            <a:off x="571500" y="3373134"/>
            <a:ext cx="3936206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3" y="3620486"/>
            <a:ext cx="200025" cy="200025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092994" y="3616021"/>
            <a:ext cx="149125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Discount Impact</a:t>
            </a:r>
            <a:endParaRPr lang="en-US" sz="12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4146445"/>
            <a:ext cx="62508" cy="100013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19758" y="4110726"/>
            <a:ext cx="32414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High-spending users utilizing discounts vs. full-price.</a:t>
            </a:r>
            <a:endParaRPr lang="en-US" sz="95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3" y="4344684"/>
            <a:ext cx="62508" cy="100013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919758" y="4308965"/>
            <a:ext cx="337363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 of discount-dependent product categories.</a:t>
            </a:r>
            <a:endParaRPr lang="en-US" sz="95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4698299"/>
            <a:ext cx="62508" cy="100013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919758" y="4662581"/>
            <a:ext cx="32057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between promo usage and order volume.</a:t>
            </a:r>
            <a:endParaRPr lang="en-US" sz="950" dirty="0"/>
          </a:p>
        </p:txBody>
      </p:sp>
      <p:sp>
        <p:nvSpPr>
          <p:cNvPr id="31" name="Shape 16"/>
          <p:cNvSpPr/>
          <p:nvPr/>
        </p:nvSpPr>
        <p:spPr>
          <a:xfrm>
            <a:off x="4636294" y="3373134"/>
            <a:ext cx="3936206" cy="1643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0606" y="3620486"/>
            <a:ext cx="225028" cy="200025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5182791" y="3616021"/>
            <a:ext cx="192702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Subscription Analysis</a:t>
            </a:r>
            <a:endParaRPr lang="en-US" sz="1200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606" y="4146445"/>
            <a:ext cx="62508" cy="100013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4984552" y="4110726"/>
            <a:ext cx="337363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comparison: Subscribers vs. Non-Subscribers.</a:t>
            </a:r>
            <a:endParaRPr lang="en-US" sz="950" dirty="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606" y="4500060"/>
            <a:ext cx="62508" cy="100013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4984552" y="4464341"/>
            <a:ext cx="324504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of subscription status on purchase frequency.</a:t>
            </a:r>
            <a:endParaRPr lang="en-US" sz="95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606" y="4698299"/>
            <a:ext cx="62508" cy="100013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4984552" y="4662581"/>
            <a:ext cx="305573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 of subscription for high-volume buyers.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76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074"/>
            <a:ext cx="4325541" cy="46791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SQL Business Insights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571500" y="1561188"/>
            <a:ext cx="3893344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719244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1704063"/>
            <a:ext cx="14626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by Gender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1984456"/>
            <a:ext cx="3536156" cy="128587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679156" y="1561188"/>
            <a:ext cx="3893344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719244"/>
            <a:ext cx="160734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89922" y="1704063"/>
            <a:ext cx="23860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Subscribers vs. Non-Subscribers</a:t>
            </a:r>
            <a:endParaRPr lang="en-US" sz="1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984456"/>
            <a:ext cx="3536156" cy="128587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571500" y="3775751"/>
            <a:ext cx="3893344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3933806"/>
            <a:ext cx="160734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82266" y="3918626"/>
            <a:ext cx="18752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5 Products by Rating</a:t>
            </a:r>
            <a:endParaRPr lang="en-US" sz="1000" dirty="0"/>
          </a:p>
        </p:txBody>
      </p:sp>
      <p:sp>
        <p:nvSpPr>
          <p:cNvPr id="16" name="Shape 7"/>
          <p:cNvSpPr/>
          <p:nvPr/>
        </p:nvSpPr>
        <p:spPr>
          <a:xfrm>
            <a:off x="4679156" y="3775751"/>
            <a:ext cx="3893344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3933806"/>
            <a:ext cx="178594" cy="14287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107781" y="3918626"/>
            <a:ext cx="20091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Shipping Type Comparison</a:t>
            </a:r>
            <a:endParaRPr lang="en-US" sz="1000" dirty="0"/>
          </a:p>
        </p:txBody>
      </p:sp>
      <p:sp>
        <p:nvSpPr>
          <p:cNvPr id="19" name="Text 9"/>
          <p:cNvSpPr/>
          <p:nvPr/>
        </p:nvSpPr>
        <p:spPr>
          <a:xfrm>
            <a:off x="4857750" y="4427813"/>
            <a:ext cx="3536156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vs. Standard</a:t>
            </a:r>
            <a:endParaRPr lang="en-US" sz="1800" dirty="0"/>
          </a:p>
        </p:txBody>
      </p:sp>
      <p:sp>
        <p:nvSpPr>
          <p:cNvPr id="20" name="Text 10"/>
          <p:cNvSpPr/>
          <p:nvPr/>
        </p:nvSpPr>
        <p:spPr>
          <a:xfrm>
            <a:off x="4857750" y="4776071"/>
            <a:ext cx="3536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shows that </a:t>
            </a:r>
            <a:r>
              <a:rPr lang="en-US" sz="8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</a:t>
            </a: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users have a higher average purchase amount, indicating a premium customer segment.</a:t>
            </a:r>
            <a:endParaRPr lang="en-US" sz="85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50094" y="4199018"/>
          <a:ext cx="353615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Handbag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4.9 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Shoes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4.8 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4.7 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Jewelry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4.6 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31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Sunglasses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4.5 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636"/>
            <a:ext cx="5234583" cy="46791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Interactive Power BI Dashboard</a:t>
            </a:r>
            <a:endParaRPr lang="en-US" sz="2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00" y="1100000"/>
            <a:ext cx="8344000" cy="32435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5011620"/>
            <a:ext cx="171450" cy="171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43013" y="5019656"/>
            <a:ext cx="13769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KPI Tracking</a:t>
            </a:r>
            <a:endParaRPr lang="en-US" sz="9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7358" y="5011620"/>
            <a:ext cx="171450" cy="1714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990245" y="5019656"/>
            <a:ext cx="14966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Slicers &amp; Filters</a:t>
            </a:r>
            <a:endParaRPr lang="en-US" sz="95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249" y="5011620"/>
            <a:ext cx="214313" cy="1714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899999" y="5019656"/>
            <a:ext cx="146982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Segmentation</a:t>
            </a:r>
            <a:endParaRPr lang="en-US" sz="95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7213" y="5011620"/>
            <a:ext cx="192881" cy="1714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761531" y="5019656"/>
            <a:ext cx="13823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390941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Business Insights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87196"/>
            <a:ext cx="3929063" cy="167163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87196"/>
            <a:ext cx="3929063" cy="14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839906"/>
            <a:ext cx="192881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0131" y="1830084"/>
            <a:ext cx="216991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Best-Performing Category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50094" y="2299785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and Accessories emerged as the top-performing categories, consistently delivering the highest ROI and customer satisfaction scores across all seasons.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2945402"/>
            <a:ext cx="96441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3684" y="2932007"/>
            <a:ext cx="193595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6B6D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Highest Average Review Rating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643438" y="1587196"/>
            <a:ext cx="3929063" cy="167163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4643438" y="1587196"/>
            <a:ext cx="3929063" cy="14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1839906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43500" y="1830084"/>
            <a:ext cx="243066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High-Revenue Demographics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822031" y="2299785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25-45 age bracket represents the most profitable demographic, contributing over 45% of total platform revenue with a preference for premium items.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2945402"/>
            <a:ext cx="144661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23842" y="2932007"/>
            <a:ext cx="167520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6B6D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45% Revenue Contribution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571500" y="3401709"/>
            <a:ext cx="3929063" cy="167163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2"/>
          <p:cNvSpPr/>
          <p:nvPr/>
        </p:nvSpPr>
        <p:spPr>
          <a:xfrm>
            <a:off x="571500" y="3401709"/>
            <a:ext cx="3929063" cy="14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3654419"/>
            <a:ext cx="192881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0131" y="3644596"/>
            <a:ext cx="166985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Subscription Impact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750094" y="4114298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demonstrate significantly higher engagement levels, with a 25% increase in average transaction value compared to non-subscribers.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094" y="4759914"/>
            <a:ext cx="128588" cy="128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35831" y="4746520"/>
            <a:ext cx="171628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6B6D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25% Higher Average Spend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4643438" y="3401709"/>
            <a:ext cx="3929063" cy="167163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6" name="Shape 17"/>
          <p:cNvSpPr/>
          <p:nvPr/>
        </p:nvSpPr>
        <p:spPr>
          <a:xfrm>
            <a:off x="4643438" y="3401709"/>
            <a:ext cx="3929063" cy="14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2031" y="3640131"/>
            <a:ext cx="214313" cy="17145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43500" y="3630309"/>
            <a:ext cx="167878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Shipping &amp; Behavior</a:t>
            </a:r>
            <a:endParaRPr lang="en-US" sz="1100" dirty="0"/>
          </a:p>
        </p:txBody>
      </p:sp>
      <p:sp>
        <p:nvSpPr>
          <p:cNvPr id="29" name="Text 19"/>
          <p:cNvSpPr/>
          <p:nvPr/>
        </p:nvSpPr>
        <p:spPr>
          <a:xfrm>
            <a:off x="4822031" y="4100010"/>
            <a:ext cx="3571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opting for Express Shipping show a strong correlation with higher purchase amounts, indicating a segment that prioritizes speed and convenience.</a:t>
            </a:r>
            <a:endParaRPr lang="en-US" sz="9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2031" y="4745627"/>
            <a:ext cx="96441" cy="1285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975622" y="4732232"/>
            <a:ext cx="213419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6B6D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High-Value Convenience Segment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832997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Business Recommendations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58634"/>
            <a:ext cx="8001000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58634"/>
            <a:ext cx="42863" cy="7143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806866"/>
            <a:ext cx="42862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563EB">
                    <a:alpha val="2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2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1887234"/>
            <a:ext cx="357188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4513" y="1803462"/>
            <a:ext cx="658653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Enhance Loyalty Programs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814513" y="2048135"/>
            <a:ext cx="65865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tiered rewards for 'Returning' customers to incentivize the transition to the 'Loyal' segment.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71500" y="2501596"/>
            <a:ext cx="8001000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2501596"/>
            <a:ext cx="42863" cy="7143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8"/>
          <p:cNvSpPr/>
          <p:nvPr/>
        </p:nvSpPr>
        <p:spPr>
          <a:xfrm>
            <a:off x="742950" y="2649829"/>
            <a:ext cx="432197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563EB">
                    <a:alpha val="2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2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022" y="2730196"/>
            <a:ext cx="357188" cy="2571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18084" y="2556430"/>
            <a:ext cx="658296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Optimize Discount Strategy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818084" y="2801103"/>
            <a:ext cx="658296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promotional efforts on 'Discount-Dependent' products to maximize volume without eroding overall margins.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71500" y="3344559"/>
            <a:ext cx="8001000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3344559"/>
            <a:ext cx="42863" cy="7143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3"/>
          <p:cNvSpPr/>
          <p:nvPr/>
        </p:nvSpPr>
        <p:spPr>
          <a:xfrm>
            <a:off x="742950" y="3492791"/>
            <a:ext cx="432197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563EB">
                    <a:alpha val="2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24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022" y="3573159"/>
            <a:ext cx="357188" cy="257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18084" y="3399393"/>
            <a:ext cx="658296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Targeted Marketing Campaigns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818084" y="3644066"/>
            <a:ext cx="658296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marketing budget toward the high-revenue 25-45 age group and promote subscriptions to frequent buyers.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71500" y="4187521"/>
            <a:ext cx="8001000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4187521"/>
            <a:ext cx="42863" cy="7143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18"/>
          <p:cNvSpPr/>
          <p:nvPr/>
        </p:nvSpPr>
        <p:spPr>
          <a:xfrm>
            <a:off x="742950" y="4335754"/>
            <a:ext cx="467916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563EB">
                    <a:alpha val="2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24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741" y="4416121"/>
            <a:ext cx="357188" cy="2571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53803" y="4242355"/>
            <a:ext cx="654724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Product Positioning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853803" y="4487028"/>
            <a:ext cx="65472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top-rated and high-ROI products in seasonal campaigns to drive conversion and customer satisfaction.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301000"/>
            <a:ext cx="7143750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75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You!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1000125" y="1999301"/>
            <a:ext cx="7143750" cy="885825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999301"/>
            <a:ext cx="7143750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1285875" y="2313626"/>
            <a:ext cx="65722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delivered an end-to-end analytics solution, transforming raw transactional data into a strategic roadmap for business growth and customer retention.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413" y="3085151"/>
            <a:ext cx="250031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52005" y="3442339"/>
            <a:ext cx="10608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Wrangling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541" y="3085151"/>
            <a:ext cx="250031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70039" y="3442339"/>
            <a:ext cx="8590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Analysis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1499" y="3085151"/>
            <a:ext cx="285750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86263" y="3442339"/>
            <a:ext cx="121622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Visualization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678" y="3085151"/>
            <a:ext cx="214313" cy="285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59673" y="3442339"/>
            <a:ext cx="143232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Intelligence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4721" y="4014732"/>
            <a:ext cx="125016" cy="1428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251174" y="3999551"/>
            <a:ext cx="2302073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50" dirty="0"/>
              <a:t>https://www.linkedin.com/in/shivam-singh-4a78122a7/</a:t>
            </a: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8998" y="4014732"/>
            <a:ext cx="139303" cy="1428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49738" y="3999551"/>
            <a:ext cx="203954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50" dirty="0"/>
              <a:t>https://github.com/shiva9006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760</Words>
  <Application>Microsoft Office PowerPoint</Application>
  <PresentationFormat>On-screen Show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Courier New</vt:lpstr>
      <vt:lpstr>Inter</vt:lpstr>
      <vt:lpstr>Inter Light</vt:lpstr>
      <vt:lpstr>Inter SemiBold</vt:lpstr>
      <vt:lpstr>monospace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shivam singh</cp:lastModifiedBy>
  <cp:revision>2</cp:revision>
  <dcterms:created xsi:type="dcterms:W3CDTF">2026-05-14T07:18:49Z</dcterms:created>
  <dcterms:modified xsi:type="dcterms:W3CDTF">2026-09-05T10:14:20Z</dcterms:modified>
</cp:coreProperties>
</file>